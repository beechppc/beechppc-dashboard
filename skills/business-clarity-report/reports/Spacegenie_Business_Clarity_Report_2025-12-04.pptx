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Business Clarity Report</a:t>
            </a:r>
          </a:p>
        </p:txBody>
      </p:sp>
      <p:sp>
        <p:nvSpPr>
          <p:cNvPr id="4" name="TextBox 3"/>
          <p:cNvSpPr txBox="1"/>
          <p:nvPr/>
        </p:nvSpPr>
        <p:spPr>
          <a:xfrm>
            <a:off x="914400" y="3657600"/>
            <a:ext cx="7315200" cy="731520"/>
          </a:xfrm>
          <a:prstGeom prst="rect">
            <a:avLst/>
          </a:prstGeom>
          <a:noFill/>
        </p:spPr>
        <p:txBody>
          <a:bodyPr wrap="none">
            <a:spAutoFit/>
          </a:bodyPr>
          <a:lstStyle/>
          <a:p>
            <a:pPr algn="ctr">
              <a:defRPr sz="2400">
                <a:solidFill>
                  <a:srgbClr val="00CC99"/>
                </a:solidFill>
              </a:defRPr>
            </a:pPr>
            <a:r>
              <a:t>Spacegenie • 2025-12-04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548640"/>
          </a:xfrm>
          <a:prstGeom prst="rect">
            <a:avLst/>
          </a:prstGeom>
          <a:noFill/>
        </p:spPr>
        <p:txBody>
          <a:bodyPr wrap="none">
            <a:spAutoFit/>
          </a:bodyPr>
          <a:lstStyle/>
          <a:p>
            <a:pPr>
              <a:defRPr sz="3200" b="1">
                <a:solidFill>
                  <a:srgbClr val="FFFFFF"/>
                </a:solidFill>
              </a:defRPr>
            </a:pPr>
            <a:r>
              <a:t>Executive Summary</a:t>
            </a:r>
          </a:p>
        </p:txBody>
      </p:sp>
      <p:sp>
        <p:nvSpPr>
          <p:cNvPr id="4" name="TextBox 3"/>
          <p:cNvSpPr txBox="1"/>
          <p:nvPr/>
        </p:nvSpPr>
        <p:spPr>
          <a:xfrm>
            <a:off x="457200" y="1188720"/>
            <a:ext cx="8229600" cy="1097280"/>
          </a:xfrm>
          <a:prstGeom prst="rect">
            <a:avLst/>
          </a:prstGeom>
          <a:noFill/>
        </p:spPr>
        <p:txBody>
          <a:bodyPr wrap="square">
            <a:spAutoFit/>
          </a:bodyPr>
          <a:lstStyle/>
          <a:p>
            <a:pPr>
              <a:defRPr sz="1400">
                <a:solidFill>
                  <a:srgbClr val="333333"/>
                </a:solidFill>
              </a:defRPr>
            </a:pPr>
            <a:r>
              <a:t>Modern German self-storage company with 24/7 digital access, flexible contracts, and transparent pricing. Operating in 4 cities with 6 more locations planned. Strong PPC potential with clear differentiation and tech-forward approach.</a:t>
            </a:r>
          </a:p>
        </p:txBody>
      </p:sp>
      <p:sp>
        <p:nvSpPr>
          <p:cNvPr id="5" name="TextBox 4"/>
          <p:cNvSpPr txBox="1"/>
          <p:nvPr/>
        </p:nvSpPr>
        <p:spPr>
          <a:xfrm>
            <a:off x="731520" y="2468880"/>
            <a:ext cx="7680960" cy="3931920"/>
          </a:xfrm>
          <a:prstGeom prst="rect">
            <a:avLst/>
          </a:prstGeom>
          <a:noFill/>
        </p:spPr>
        <p:txBody>
          <a:bodyPr wrap="square">
            <a:spAutoFit/>
          </a:bodyPr>
          <a:lstStyle/>
          <a:p>
            <a:pPr>
              <a:spcBef>
                <a:spcPts val="800"/>
              </a:spcBef>
              <a:defRPr sz="1400">
                <a:solidFill>
                  <a:srgbClr val="333333"/>
                </a:solidFill>
              </a:defRPr>
            </a:pPr>
            <a:r>
              <a:t>✓ Digital-first storage solutions across Germany</a:t>
            </a:r>
          </a:p>
          <a:p>
            <a:pPr>
              <a:spcBef>
                <a:spcPts val="800"/>
              </a:spcBef>
              <a:defRPr sz="1400">
                <a:solidFill>
                  <a:srgbClr val="333333"/>
                </a:solidFill>
              </a:defRPr>
            </a:pPr>
            <a:r>
              <a:t>✓ 24/7 app-based access with no physical keys</a:t>
            </a:r>
          </a:p>
          <a:p>
            <a:pPr>
              <a:spcBef>
                <a:spcPts val="800"/>
              </a:spcBef>
              <a:defRPr sz="1400">
                <a:solidFill>
                  <a:srgbClr val="333333"/>
                </a:solidFill>
              </a:defRPr>
            </a:pPr>
            <a:r>
              <a:t>✓ Flexible contracts: 6-month minimum, then month-to-month</a:t>
            </a:r>
          </a:p>
          <a:p>
            <a:pPr>
              <a:spcBef>
                <a:spcPts val="800"/>
              </a:spcBef>
              <a:defRPr sz="1400">
                <a:solidFill>
                  <a:srgbClr val="333333"/>
                </a:solidFill>
              </a:defRPr>
            </a:pPr>
            <a:r>
              <a:t>✓ 4 service categories: Self Storage, Vehicle/RV, Commercial, Boat</a:t>
            </a:r>
          </a:p>
          <a:p>
            <a:pPr>
              <a:spcBef>
                <a:spcPts val="800"/>
              </a:spcBef>
              <a:defRPr sz="1400">
                <a:solidFill>
                  <a:srgbClr val="333333"/>
                </a:solidFill>
              </a:defRPr>
            </a:pPr>
            <a:r>
              <a:t>✓ Operating: Haßloch, Bad Kreuznach, Gelsenkirchen, Frankfurt</a:t>
            </a:r>
          </a:p>
          <a:p>
            <a:pPr>
              <a:spcBef>
                <a:spcPts val="800"/>
              </a:spcBef>
              <a:defRPr sz="1400">
                <a:solidFill>
                  <a:srgbClr val="333333"/>
                </a:solidFill>
              </a:defRPr>
            </a:pPr>
            <a:r>
              <a:t>✓ Upcoming: 6 new locations across Germany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548640"/>
          </a:xfrm>
          <a:prstGeom prst="rect">
            <a:avLst/>
          </a:prstGeom>
          <a:noFill/>
        </p:spPr>
        <p:txBody>
          <a:bodyPr wrap="none">
            <a:spAutoFit/>
          </a:bodyPr>
          <a:lstStyle/>
          <a:p>
            <a:pPr>
              <a:defRPr sz="3200" b="1">
                <a:solidFill>
                  <a:srgbClr val="FFFFFF"/>
                </a:solidFill>
              </a:defRPr>
            </a:pPr>
            <a:r>
              <a:t>Why Spacegenie Exists</a:t>
            </a:r>
          </a:p>
        </p:txBody>
      </p:sp>
      <p:sp>
        <p:nvSpPr>
          <p:cNvPr id="4" name="TextBox 3"/>
          <p:cNvSpPr txBox="1"/>
          <p:nvPr/>
        </p:nvSpPr>
        <p:spPr>
          <a:xfrm>
            <a:off x="457200" y="1188720"/>
            <a:ext cx="8229600" cy="1097280"/>
          </a:xfrm>
          <a:prstGeom prst="rect">
            <a:avLst/>
          </a:prstGeom>
          <a:noFill/>
        </p:spPr>
        <p:txBody>
          <a:bodyPr wrap="square">
            <a:spAutoFit/>
          </a:bodyPr>
          <a:lstStyle/>
          <a:p>
            <a:pPr>
              <a:defRPr sz="1400">
                <a:solidFill>
                  <a:srgbClr val="333333"/>
                </a:solidFill>
              </a:defRPr>
            </a:pPr>
            <a:r>
              <a:t>Spacegenie exists to solve the space shortage problem in Germany by providing modern, digital-first self-storage solutions. They aim to be 'die erste Adresse für Ihren Lagerbedarf' (the first address for your storage needs). As a young, tech-forward company, they are modernizing the traditional stor...</a:t>
            </a:r>
          </a:p>
        </p:txBody>
      </p:sp>
      <p:sp>
        <p:nvSpPr>
          <p:cNvPr id="5" name="TextBox 4"/>
          <p:cNvSpPr txBox="1"/>
          <p:nvPr/>
        </p:nvSpPr>
        <p:spPr>
          <a:xfrm>
            <a:off x="731520" y="2468880"/>
            <a:ext cx="7680960" cy="3931920"/>
          </a:xfrm>
          <a:prstGeom prst="rect">
            <a:avLst/>
          </a:prstGeom>
          <a:noFill/>
        </p:spPr>
        <p:txBody>
          <a:bodyPr wrap="square">
            <a:spAutoFit/>
          </a:bodyPr>
          <a:lstStyle/>
          <a:p>
            <a:pPr>
              <a:spcBef>
                <a:spcPts val="800"/>
              </a:spcBef>
              <a:defRPr sz="1400">
                <a:solidFill>
                  <a:srgbClr val="333333"/>
                </a:solidFill>
              </a:defRPr>
            </a:pPr>
            <a:r>
              <a:t>• Urban space constraints for households and small businesses</a:t>
            </a:r>
          </a:p>
          <a:p>
            <a:pPr>
              <a:spcBef>
                <a:spcPts val="800"/>
              </a:spcBef>
              <a:defRPr sz="1400">
                <a:solidFill>
                  <a:srgbClr val="333333"/>
                </a:solidFill>
              </a:defRPr>
            </a:pPr>
            <a:r>
              <a:t>• Need for temporary storage during life transitions (moving, renovating)</a:t>
            </a:r>
          </a:p>
          <a:p>
            <a:pPr>
              <a:spcBef>
                <a:spcPts val="800"/>
              </a:spcBef>
              <a:defRPr sz="1400">
                <a:solidFill>
                  <a:srgbClr val="333333"/>
                </a:solidFill>
              </a:defRPr>
            </a:pPr>
            <a:r>
              <a:t>• Secure vehicle and specialty item storage (boats, RVs)</a:t>
            </a:r>
          </a:p>
          <a:p>
            <a:pPr>
              <a:spcBef>
                <a:spcPts val="800"/>
              </a:spcBef>
              <a:defRPr sz="1400">
                <a:solidFill>
                  <a:srgbClr val="333333"/>
                </a:solidFill>
              </a:defRPr>
            </a:pPr>
            <a:r>
              <a:t>• Affordable warehouse space for startups and small businesses without long-term lease commitments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548640"/>
          </a:xfrm>
          <a:prstGeom prst="rect">
            <a:avLst/>
          </a:prstGeom>
          <a:noFill/>
        </p:spPr>
        <p:txBody>
          <a:bodyPr wrap="none">
            <a:spAutoFit/>
          </a:bodyPr>
          <a:lstStyle/>
          <a:p>
            <a:pPr>
              <a:defRPr sz="3200" b="1">
                <a:solidFill>
                  <a:srgbClr val="FFFFFF"/>
                </a:solidFill>
              </a:defRPr>
            </a:pPr>
            <a:r>
              <a:t>Who Spacegenie Serves</a:t>
            </a:r>
          </a:p>
        </p:txBody>
      </p:sp>
      <p:sp>
        <p:nvSpPr>
          <p:cNvPr id="4" name="TextBox 3"/>
          <p:cNvSpPr txBox="1"/>
          <p:nvPr/>
        </p:nvSpPr>
        <p:spPr>
          <a:xfrm>
            <a:off x="457200" y="1188720"/>
            <a:ext cx="8229600" cy="1097280"/>
          </a:xfrm>
          <a:prstGeom prst="rect">
            <a:avLst/>
          </a:prstGeom>
          <a:noFill/>
        </p:spPr>
        <p:txBody>
          <a:bodyPr wrap="square">
            <a:spAutoFit/>
          </a:bodyPr>
          <a:lstStyle/>
          <a:p>
            <a:pPr>
              <a:defRPr sz="1400">
                <a:solidFill>
                  <a:srgbClr val="333333"/>
                </a:solidFill>
              </a:defRPr>
            </a:pPr>
            <a:r>
              <a:t>Spacegenie serves a diverse range of customers across Germany, from private individuals needing extra space to small business owners requiring flexible warehouse solutions. Their target market values convenience, digital solutions, transparency, and flexibility, with a preference for modern faciliti...</a:t>
            </a:r>
          </a:p>
        </p:txBody>
      </p:sp>
      <p:sp>
        <p:nvSpPr>
          <p:cNvPr id="5" name="TextBox 4"/>
          <p:cNvSpPr txBox="1"/>
          <p:nvPr/>
        </p:nvSpPr>
        <p:spPr>
          <a:xfrm>
            <a:off x="731520" y="2468880"/>
            <a:ext cx="7680960" cy="3931920"/>
          </a:xfrm>
          <a:prstGeom prst="rect">
            <a:avLst/>
          </a:prstGeom>
          <a:noFill/>
        </p:spPr>
        <p:txBody>
          <a:bodyPr wrap="square">
            <a:spAutoFit/>
          </a:bodyPr>
          <a:lstStyle/>
          <a:p>
            <a:pPr>
              <a:spcBef>
                <a:spcPts val="800"/>
              </a:spcBef>
              <a:defRPr sz="1400">
                <a:solidFill>
                  <a:srgbClr val="333333"/>
                </a:solidFill>
              </a:defRPr>
            </a:pPr>
            <a:r>
              <a:t>• Traditional storage facilities with restrictive access hours</a:t>
            </a:r>
          </a:p>
          <a:p>
            <a:pPr>
              <a:spcBef>
                <a:spcPts val="800"/>
              </a:spcBef>
              <a:defRPr sz="1400">
                <a:solidFill>
                  <a:srgbClr val="333333"/>
                </a:solidFill>
              </a:defRPr>
            </a:pPr>
            <a:r>
              <a:t>• Hidden fees and complex pricing structures</a:t>
            </a:r>
          </a:p>
          <a:p>
            <a:pPr>
              <a:spcBef>
                <a:spcPts val="800"/>
              </a:spcBef>
              <a:defRPr sz="1400">
                <a:solidFill>
                  <a:srgbClr val="333333"/>
                </a:solidFill>
              </a:defRPr>
            </a:pPr>
            <a:r>
              <a:t>• Long-term contract requirements</a:t>
            </a:r>
          </a:p>
          <a:p>
            <a:pPr>
              <a:spcBef>
                <a:spcPts val="800"/>
              </a:spcBef>
              <a:defRPr sz="1400">
                <a:solidFill>
                  <a:srgbClr val="333333"/>
                </a:solidFill>
              </a:defRPr>
            </a:pPr>
            <a:r>
              <a:t>• Inconvenient key management</a:t>
            </a:r>
          </a:p>
          <a:p>
            <a:pPr>
              <a:spcBef>
                <a:spcPts val="800"/>
              </a:spcBef>
              <a:defRPr sz="1400">
                <a:solidFill>
                  <a:srgbClr val="333333"/>
                </a:solidFill>
              </a:defRPr>
            </a:pPr>
            <a:r>
              <a:t>• Lack of space in urban living/working environments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548640"/>
          </a:xfrm>
          <a:prstGeom prst="rect">
            <a:avLst/>
          </a:prstGeom>
          <a:noFill/>
        </p:spPr>
        <p:txBody>
          <a:bodyPr wrap="none">
            <a:spAutoFit/>
          </a:bodyPr>
          <a:lstStyle/>
          <a:p>
            <a:pPr>
              <a:defRPr sz="3200" b="1">
                <a:solidFill>
                  <a:srgbClr val="FFFFFF"/>
                </a:solidFill>
              </a:defRPr>
            </a:pPr>
            <a:r>
              <a:t>What Spacegenie Does</a:t>
            </a:r>
          </a:p>
        </p:txBody>
      </p:sp>
      <p:sp>
        <p:nvSpPr>
          <p:cNvPr id="4" name="TextBox 3"/>
          <p:cNvSpPr txBox="1"/>
          <p:nvPr/>
        </p:nvSpPr>
        <p:spPr>
          <a:xfrm>
            <a:off x="457200" y="1188720"/>
            <a:ext cx="8229600" cy="1097280"/>
          </a:xfrm>
          <a:prstGeom prst="rect">
            <a:avLst/>
          </a:prstGeom>
          <a:noFill/>
        </p:spPr>
        <p:txBody>
          <a:bodyPr wrap="square">
            <a:spAutoFit/>
          </a:bodyPr>
          <a:lstStyle/>
          <a:p>
            <a:pPr>
              <a:defRPr sz="1400">
                <a:solidFill>
                  <a:srgbClr val="333333"/>
                </a:solidFill>
              </a:defRPr>
            </a:pPr>
            <a:r>
              <a:t>Spacegenie provides four main categories of modern storage solutions: self-storage units for personal belongings, vehicle and RV storage with drive-up access, commercial storage for small businesses, and specialized boat storage. All services feature 24/7 app-based access, modern facilities with sec...</a:t>
            </a:r>
          </a:p>
        </p:txBody>
      </p:sp>
      <p:sp>
        <p:nvSpPr>
          <p:cNvPr id="5" name="TextBox 4"/>
          <p:cNvSpPr txBox="1"/>
          <p:nvPr/>
        </p:nvSpPr>
        <p:spPr>
          <a:xfrm>
            <a:off x="731520" y="2468880"/>
            <a:ext cx="7680960" cy="3931920"/>
          </a:xfrm>
          <a:prstGeom prst="rect">
            <a:avLst/>
          </a:prstGeom>
          <a:noFill/>
        </p:spPr>
        <p:txBody>
          <a:bodyPr wrap="square">
            <a:spAutoFit/>
          </a:bodyPr>
          <a:lstStyle/>
          <a:p>
            <a:pPr>
              <a:spcBef>
                <a:spcPts val="800"/>
              </a:spcBef>
              <a:defRPr sz="1400">
                <a:solidFill>
                  <a:srgbClr val="333333"/>
                </a:solidFill>
              </a:defRPr>
            </a:pPr>
            <a:r>
              <a:t>• Self Storage Units: Personal belongings storage, seasonal items (winter tires, sports equipment), size flexibility for d</a:t>
            </a:r>
          </a:p>
          <a:p>
            <a:pPr>
              <a:spcBef>
                <a:spcPts val="800"/>
              </a:spcBef>
              <a:defRPr sz="1400">
                <a:solidFill>
                  <a:srgbClr val="333333"/>
                </a:solidFill>
              </a:defRPr>
            </a:pPr>
            <a:r>
              <a:t>• Vehicle &amp; RV Storage: Drive-up garage facilities with wide access drives for large vehicles, secure protected storage</a:t>
            </a:r>
          </a:p>
          <a:p>
            <a:pPr>
              <a:spcBef>
                <a:spcPts val="800"/>
              </a:spcBef>
              <a:defRPr sz="1400">
                <a:solidFill>
                  <a:srgbClr val="333333"/>
                </a:solidFill>
              </a:defRPr>
            </a:pPr>
            <a:r>
              <a:t>• Commercial Storage: Affordable warehouse space for small businesses with flexible rental terms and business-friendly fea</a:t>
            </a:r>
          </a:p>
          <a:p>
            <a:pPr>
              <a:spcBef>
                <a:spcPts val="800"/>
              </a:spcBef>
              <a:defRPr sz="1400">
                <a:solidFill>
                  <a:srgbClr val="333333"/>
                </a:solidFill>
              </a:defRPr>
            </a:pPr>
            <a:r>
              <a:t>• Boat Storage: Specialized facilities for watercraft in protected environments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548640"/>
          </a:xfrm>
          <a:prstGeom prst="rect">
            <a:avLst/>
          </a:prstGeom>
          <a:noFill/>
        </p:spPr>
        <p:txBody>
          <a:bodyPr wrap="none">
            <a:spAutoFit/>
          </a:bodyPr>
          <a:lstStyle/>
          <a:p>
            <a:pPr>
              <a:defRPr sz="3200" b="1">
                <a:solidFill>
                  <a:srgbClr val="FFFFFF"/>
                </a:solidFill>
              </a:defRPr>
            </a:pPr>
            <a:r>
              <a:t>Spacegenie's Unique Selling Points</a:t>
            </a:r>
          </a:p>
        </p:txBody>
      </p:sp>
      <p:sp>
        <p:nvSpPr>
          <p:cNvPr id="4" name="TextBox 3"/>
          <p:cNvSpPr txBox="1"/>
          <p:nvPr/>
        </p:nvSpPr>
        <p:spPr>
          <a:xfrm>
            <a:off x="457200" y="1188720"/>
            <a:ext cx="8229600" cy="1097280"/>
          </a:xfrm>
          <a:prstGeom prst="rect">
            <a:avLst/>
          </a:prstGeom>
          <a:noFill/>
        </p:spPr>
        <p:txBody>
          <a:bodyPr wrap="square">
            <a:spAutoFit/>
          </a:bodyPr>
          <a:lstStyle/>
          <a:p>
            <a:pPr>
              <a:defRPr sz="1400">
                <a:solidFill>
                  <a:srgbClr val="333333"/>
                </a:solidFill>
              </a:defRPr>
            </a:pPr>
            <a:r>
              <a:t>Spacegenie differentiates itself through six key advantages that modernize the traditional storage experience. Their digital-first approach eliminates physical keys with 24/7 app-based access, while flexible contracts (6-month minimum, then month-to-month) and transparent pricing with no hidden fees...</a:t>
            </a:r>
          </a:p>
        </p:txBody>
      </p:sp>
      <p:sp>
        <p:nvSpPr>
          <p:cNvPr id="5" name="TextBox 4"/>
          <p:cNvSpPr txBox="1"/>
          <p:nvPr/>
        </p:nvSpPr>
        <p:spPr>
          <a:xfrm>
            <a:off x="731520" y="2468880"/>
            <a:ext cx="7680960" cy="3931920"/>
          </a:xfrm>
          <a:prstGeom prst="rect">
            <a:avLst/>
          </a:prstGeom>
          <a:noFill/>
        </p:spPr>
        <p:txBody>
          <a:bodyPr wrap="square">
            <a:spAutoFit/>
          </a:bodyPr>
          <a:lstStyle/>
          <a:p>
            <a:pPr>
              <a:spcBef>
                <a:spcPts val="800"/>
              </a:spcBef>
              <a:defRPr sz="1400">
                <a:solidFill>
                  <a:srgbClr val="333333"/>
                </a:solidFill>
              </a:defRPr>
            </a:pPr>
            <a:r>
              <a:t>• 24/7 Digital Access: App-based entry system with no physical keys required - access anytime without staff dependency</a:t>
            </a:r>
          </a:p>
          <a:p>
            <a:pPr>
              <a:spcBef>
                <a:spcPts val="800"/>
              </a:spcBef>
              <a:defRPr sz="1400">
                <a:solidFill>
                  <a:srgbClr val="333333"/>
                </a:solidFill>
              </a:defRPr>
            </a:pPr>
            <a:r>
              <a:t>• Flexible Contracts: 6-month minimum with month-to-month flexibility thereafter - no long-term lock-in</a:t>
            </a:r>
          </a:p>
          <a:p>
            <a:pPr>
              <a:spcBef>
                <a:spcPts val="800"/>
              </a:spcBef>
              <a:defRPr sz="1400">
                <a:solidFill>
                  <a:srgbClr val="333333"/>
                </a:solidFill>
              </a:defRPr>
            </a:pPr>
            <a:r>
              <a:t>• Transparent Pricing: No hidden fees, clear upfront costs, predictable monthly expenses</a:t>
            </a:r>
          </a:p>
          <a:p>
            <a:pPr>
              <a:spcBef>
                <a:spcPts val="800"/>
              </a:spcBef>
              <a:defRPr sz="1400">
                <a:solidFill>
                  <a:srgbClr val="333333"/>
                </a:solidFill>
              </a:defRPr>
            </a:pPr>
            <a:r>
              <a:t>• Modern Facilities: CCTV surveillance, electronic gate systems, clean well-maintained spaces, practical amenities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548640"/>
          </a:xfrm>
          <a:prstGeom prst="rect">
            <a:avLst/>
          </a:prstGeom>
          <a:noFill/>
        </p:spPr>
        <p:txBody>
          <a:bodyPr wrap="none">
            <a:spAutoFit/>
          </a:bodyPr>
          <a:lstStyle/>
          <a:p>
            <a:pPr>
              <a:defRPr sz="3200" b="1">
                <a:solidFill>
                  <a:srgbClr val="FFFFFF"/>
                </a:solidFill>
              </a:defRPr>
            </a:pPr>
            <a:r>
              <a:t>Proof &amp; Credibility</a:t>
            </a:r>
          </a:p>
        </p:txBody>
      </p:sp>
      <p:sp>
        <p:nvSpPr>
          <p:cNvPr id="4" name="TextBox 3"/>
          <p:cNvSpPr txBox="1"/>
          <p:nvPr/>
        </p:nvSpPr>
        <p:spPr>
          <a:xfrm>
            <a:off x="457200" y="1188720"/>
            <a:ext cx="8229600" cy="1097280"/>
          </a:xfrm>
          <a:prstGeom prst="rect">
            <a:avLst/>
          </a:prstGeom>
          <a:noFill/>
        </p:spPr>
        <p:txBody>
          <a:bodyPr wrap="square">
            <a:spAutoFit/>
          </a:bodyPr>
          <a:lstStyle/>
          <a:p>
            <a:pPr>
              <a:defRPr sz="1400">
                <a:solidFill>
                  <a:srgbClr val="333333"/>
                </a:solidFill>
              </a:defRPr>
            </a:pPr>
            <a:r>
              <a:t>Spacegenie demonstrates credibility through their 5-star rating at their Haßloch location and rapid expansion across Germany. Operating in 4 strategic cities with 6 additional locations planned shows strong market validation and growth. Their commitment to responding 'within hours' to inquiries and ...</a:t>
            </a:r>
          </a:p>
        </p:txBody>
      </p:sp>
      <p:sp>
        <p:nvSpPr>
          <p:cNvPr id="5" name="TextBox 4"/>
          <p:cNvSpPr txBox="1"/>
          <p:nvPr/>
        </p:nvSpPr>
        <p:spPr>
          <a:xfrm>
            <a:off x="731520" y="2468880"/>
            <a:ext cx="7680960" cy="3931920"/>
          </a:xfrm>
          <a:prstGeom prst="rect">
            <a:avLst/>
          </a:prstGeom>
          <a:noFill/>
        </p:spPr>
        <p:txBody>
          <a:bodyPr wrap="square">
            <a:spAutoFit/>
          </a:bodyPr>
          <a:lstStyle/>
          <a:p>
            <a:pPr>
              <a:spcBef>
                <a:spcPts val="800"/>
              </a:spcBef>
              <a:defRPr sz="1400">
                <a:solidFill>
                  <a:srgbClr val="333333"/>
                </a:solidFill>
              </a:defRPr>
            </a:pPr>
            <a:r>
              <a:t>• 5-star rating for Haßloch location</a:t>
            </a:r>
          </a:p>
          <a:p>
            <a:pPr>
              <a:spcBef>
                <a:spcPts val="800"/>
              </a:spcBef>
              <a:defRPr sz="1400">
                <a:solidFill>
                  <a:srgbClr val="333333"/>
                </a:solidFill>
              </a:defRPr>
            </a:pPr>
            <a:r>
              <a:t>• Expanding footprint (4 operating, 6 upcoming locations)</a:t>
            </a:r>
          </a:p>
          <a:p>
            <a:pPr>
              <a:spcBef>
                <a:spcPts val="800"/>
              </a:spcBef>
              <a:defRPr sz="1400">
                <a:solidFill>
                  <a:srgbClr val="333333"/>
                </a:solidFill>
              </a:defRPr>
            </a:pPr>
            <a:r>
              <a:t>• Responds within hours to inquiries</a:t>
            </a:r>
          </a:p>
          <a:p>
            <a:pPr>
              <a:spcBef>
                <a:spcPts val="800"/>
              </a:spcBef>
              <a:defRPr sz="1400">
                <a:solidFill>
                  <a:srgbClr val="333333"/>
                </a:solidFill>
              </a:defRPr>
            </a:pPr>
            <a:r>
              <a:t>• Young company with strong service commitment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144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8229600" cy="548640"/>
          </a:xfrm>
          <a:prstGeom prst="rect">
            <a:avLst/>
          </a:prstGeom>
          <a:noFill/>
        </p:spPr>
        <p:txBody>
          <a:bodyPr wrap="none">
            <a:spAutoFit/>
          </a:bodyPr>
          <a:lstStyle/>
          <a:p>
            <a:pPr>
              <a:defRPr sz="3200" b="1">
                <a:solidFill>
                  <a:srgbClr val="FFFFFF"/>
                </a:solidFill>
              </a:defRPr>
            </a:pPr>
            <a:r>
              <a:t>PPC Strategy Opportunities</a:t>
            </a:r>
          </a:p>
        </p:txBody>
      </p:sp>
      <p:sp>
        <p:nvSpPr>
          <p:cNvPr id="4" name="TextBox 3"/>
          <p:cNvSpPr txBox="1"/>
          <p:nvPr/>
        </p:nvSpPr>
        <p:spPr>
          <a:xfrm>
            <a:off x="457200" y="1188720"/>
            <a:ext cx="8229600" cy="1097280"/>
          </a:xfrm>
          <a:prstGeom prst="rect">
            <a:avLst/>
          </a:prstGeom>
          <a:noFill/>
        </p:spPr>
        <p:txBody>
          <a:bodyPr wrap="square">
            <a:spAutoFit/>
          </a:bodyPr>
          <a:lstStyle/>
          <a:p>
            <a:pPr>
              <a:defRPr sz="1400">
                <a:solidFill>
                  <a:srgbClr val="333333"/>
                </a:solidFill>
              </a:defRPr>
            </a:pPr>
            <a:r>
              <a:t>Spacegenie has strong PPC potential across German markets with clear keyword themes, well-defined audience segments, and compelling messaging angles. The strategy should focus on location-specific campaigns highlighting their 24/7 digital access, flexible contracts, and transparent pricing. With 4 o...</a:t>
            </a:r>
          </a:p>
        </p:txBody>
      </p:sp>
      <p:sp>
        <p:nvSpPr>
          <p:cNvPr id="5" name="TextBox 4"/>
          <p:cNvSpPr txBox="1"/>
          <p:nvPr/>
        </p:nvSpPr>
        <p:spPr>
          <a:xfrm>
            <a:off x="731520" y="2468880"/>
            <a:ext cx="7680960" cy="3931920"/>
          </a:xfrm>
          <a:prstGeom prst="rect">
            <a:avLst/>
          </a:prstGeom>
          <a:noFill/>
        </p:spPr>
        <p:txBody>
          <a:bodyPr wrap="square">
            <a:spAutoFit/>
          </a:bodyPr>
          <a:lstStyle/>
          <a:p>
            <a:pPr>
              <a:spcBef>
                <a:spcPts val="800"/>
              </a:spcBef>
              <a:defRPr sz="1400">
                <a:solidFill>
                  <a:srgbClr val="333333"/>
                </a:solidFill>
              </a:defRPr>
            </a:pPr>
            <a:r>
              <a:t>• Lagerraum mieten [city]</a:t>
            </a:r>
          </a:p>
          <a:p>
            <a:pPr>
              <a:spcBef>
                <a:spcPts val="800"/>
              </a:spcBef>
              <a:defRPr sz="1400">
                <a:solidFill>
                  <a:srgbClr val="333333"/>
                </a:solidFill>
              </a:defRPr>
            </a:pPr>
            <a:r>
              <a:t>• Self Storage [city]</a:t>
            </a:r>
          </a:p>
          <a:p>
            <a:pPr>
              <a:spcBef>
                <a:spcPts val="800"/>
              </a:spcBef>
              <a:defRPr sz="1400">
                <a:solidFill>
                  <a:srgbClr val="333333"/>
                </a:solidFill>
              </a:defRPr>
            </a:pPr>
            <a:r>
              <a:t>• Lagerhalle mieten</a:t>
            </a:r>
          </a:p>
          <a:p>
            <a:pPr>
              <a:spcBef>
                <a:spcPts val="800"/>
              </a:spcBef>
              <a:defRPr sz="1400">
                <a:solidFill>
                  <a:srgbClr val="333333"/>
                </a:solidFill>
              </a:defRPr>
            </a:pPr>
            <a:r>
              <a:t>• Lagerraum mit 24/7 Zugang</a:t>
            </a:r>
          </a:p>
          <a:p>
            <a:pPr>
              <a:spcBef>
                <a:spcPts val="800"/>
              </a:spcBef>
              <a:defRPr sz="1400">
                <a:solidFill>
                  <a:srgbClr val="333333"/>
                </a:solidFill>
              </a:defRPr>
            </a:pPr>
            <a:r>
              <a:t>• Flexible Lagerraum Verträge</a:t>
            </a:r>
          </a:p>
          <a:p>
            <a:pPr>
              <a:spcBef>
                <a:spcPts val="800"/>
              </a:spcBef>
              <a:defRPr sz="1400">
                <a:solidFill>
                  <a:srgbClr val="333333"/>
                </a:solidFill>
              </a:defRPr>
            </a:pPr>
            <a:r>
              <a:t>• Kurzzeitlager [city]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